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embeddedFontLst>
    <p:embeddedFont>
      <p:font typeface="Geist"/>
      <p:regular r:id="rId18"/>
      <p:bold r:id="rId19"/>
    </p:embeddedFont>
    <p:embeddedFont>
      <p:font typeface="Geist Mono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Mesh Cover 2 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3311"/>
            <a:ext cx="12191695" cy="81246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hmesh-salesforce-wordmark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77240"/>
            <a:ext cx="2148840" cy="61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274320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THE AGENTIC TEAMMATE · SALESFORCE · AND BEYOND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542032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0" spc="-50">
                <a:solidFill>
                  <a:srgbClr val="FFFFFF"/>
                </a:solidFill>
                <a:latin typeface="Geist"/>
              </a:rPr>
              <a:t>Make the complex Salesforce simple.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57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A1A1A1"/>
                </a:solidFill>
                <a:latin typeface="Geist"/>
              </a:rPr>
              <a:t>MeshMesh is Salesforce’s AI-native, agent-driven teammate that operates your entire tech stack — Salesforce and beyond.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4963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The agentic teammate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0815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429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34107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9959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43251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One teammate, whole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9103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5146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4963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Enterprise ROI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30815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429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34107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Two very different Mondays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3368" y="39959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3434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4325112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ist"/>
              </a:rPr>
              <a:t>Getting started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73368" y="4910328"/>
            <a:ext cx="50292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200">
                <a:solidFill>
                  <a:srgbClr val="FA6863"/>
                </a:solidFill>
                <a:latin typeface="Geist Mono"/>
              </a:rPr>
              <a:t>(01)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21284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6B6B6B"/>
                </a:solidFill>
                <a:latin typeface="Geist Mono"/>
              </a:rPr>
              <a:t>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0" spc="-50">
                <a:solidFill>
                  <a:srgbClr val="FFFFFF"/>
                </a:solidFill>
                <a:latin typeface="Geist"/>
              </a:rPr>
              <a:t>Diagnose. Fix. Innovate.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One teammate across the whole 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146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780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89864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Rapidly find the root cause across Salesforce and the tools around it — by asking, not configuring.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7490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12463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133087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Apply the change, ship the flow, resolve the backlog — production-grade work, not suggestions.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8347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46903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Innovate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67527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1A1A1"/>
                </a:solidFill>
                <a:latin typeface="Geist"/>
              </a:rPr>
              <a:t>Move from firefighting to shipping innovation, saving 120+ hours a 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CONVERSATION, NOT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Ask for what you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60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ist"/>
              </a:rPr>
              <a:t>The old 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63240"/>
            <a:ext cx="457200" cy="279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29184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1"/>
                </a:solidFill>
                <a:latin typeface="Geist"/>
              </a:rPr>
              <a:t>Ticket queues, admin backlogs, and brittle point-and-click config. Weeks of clicks to ship a single change across clouds.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25603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Geist"/>
              </a:rPr>
              <a:t>With MeshMesh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3063240"/>
            <a:ext cx="457200" cy="279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29184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A1A1A1"/>
                </a:solidFill>
                <a:latin typeface="Geist"/>
              </a:rPr>
              <a:t>Describe the outcome in plain language. MeshMesh plans and builds production-grade work across Salesforce and beyond.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From ask to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23529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200400"/>
            <a:ext cx="2352979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401568"/>
            <a:ext cx="2352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23529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State the outcome you want in plain language — no config screens.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9987" y="2743200"/>
            <a:ext cx="23529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9987" y="3200400"/>
            <a:ext cx="2352979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9987" y="3401568"/>
            <a:ext cx="2352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3977639"/>
            <a:ext cx="23529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MeshMesh diagnoses across the stack and proposes a concrete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743200"/>
            <a:ext cx="23529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200400"/>
            <a:ext cx="2352979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3401568"/>
            <a:ext cx="2352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977639"/>
            <a:ext cx="23529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It executes production-grade changes and flows across your clouds.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467" y="2743200"/>
            <a:ext cx="23529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150">
                <a:solidFill>
                  <a:srgbClr val="FA6863"/>
                </a:solidFill>
                <a:latin typeface="Geist Mono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467" y="3200400"/>
            <a:ext cx="2352979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467" y="3401568"/>
            <a:ext cx="2352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ist"/>
              </a:rPr>
              <a:t>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467" y="3977639"/>
            <a:ext cx="23529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A1A1A1"/>
                </a:solidFill>
                <a:latin typeface="Geist"/>
              </a:rPr>
              <a:t>Review and ship — hours of work done before standup.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(FIGURES)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Enterprise ROI, measured.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+940%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ROI MULTIPLIER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9.4 hrs value per hour 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855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87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116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GAME-CHANGERS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116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Save 1+ business day /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80</a:t>
            </a:r>
            <a:r>
              <a:rPr sz="1800" b="0">
                <a:solidFill>
                  <a:srgbClr val="A1A1A1"/>
                </a:solidFill>
                <a:latin typeface="Geist"/>
              </a:rPr>
              <a:t>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847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UNLOCKED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847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Per employee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3177" y="2743200"/>
            <a:ext cx="2387269" cy="237744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7497" y="3063240"/>
            <a:ext cx="183862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spc="-60">
                <a:solidFill>
                  <a:srgbClr val="FFFFFF"/>
                </a:solidFill>
                <a:latin typeface="Geist"/>
              </a:rPr>
              <a:t>80–95%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5785" y="4114800"/>
            <a:ext cx="18386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spc="160">
                <a:solidFill>
                  <a:srgbClr val="6B6B6B"/>
                </a:solidFill>
                <a:latin typeface="Geist Mono"/>
              </a:rPr>
              <a:t>SATISFACTION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5785" y="4526280"/>
            <a:ext cx="183862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A1A1A1"/>
                </a:solidFill>
                <a:latin typeface="Geist"/>
              </a:rPr>
              <a:t>In work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TWO VERY DIFFERENT MONDAYS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5836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spc="-40">
                <a:solidFill>
                  <a:srgbClr val="FFFFFF"/>
                </a:solidFill>
                <a:latin typeface="Geist"/>
              </a:rPr>
              <a:t>Same backlog. Different Monday.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651760"/>
            <a:ext cx="5025999" cy="356616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971800"/>
            <a:ext cx="4294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80">
                <a:solidFill>
                  <a:srgbClr val="A1A1A1"/>
                </a:solidFill>
                <a:latin typeface="Geist Mono"/>
              </a:rPr>
              <a:t>WITHOUT MESHMESH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566160"/>
            <a:ext cx="42944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Sprint spent on config and tickets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Backlog grows faster than it clears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A1A1A1"/>
                </a:solidFill>
                <a:latin typeface="Geist"/>
              </a:rPr>
              <a:t>—  Innovation waits for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651760"/>
            <a:ext cx="5025999" cy="356616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0207" y="2971800"/>
            <a:ext cx="4294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80">
                <a:solidFill>
                  <a:srgbClr val="3AD598"/>
                </a:solidFill>
                <a:latin typeface="Geist Mono"/>
              </a:rPr>
              <a:t>WITH MESHMESH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0207" y="3566160"/>
            <a:ext cx="429447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The work is done before standup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Backlog clears as fast as you ask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Geist"/>
              </a:rPr>
              <a:t>—  120+ hours a month back for 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220">
                <a:solidFill>
                  <a:srgbClr val="FA6863"/>
                </a:solidFill>
                <a:latin typeface="Geist Mono"/>
              </a:rPr>
              <a:t>TESTIMONIAL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161288"/>
            <a:ext cx="502920" cy="3048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2194560"/>
            <a:ext cx="38100" cy="2377440"/>
          </a:xfrm>
          <a:prstGeom prst="rect">
            <a:avLst/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9692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0" spc="-30">
                <a:solidFill>
                  <a:srgbClr val="FFFFFF"/>
                </a:solidFill>
                <a:latin typeface="Geist"/>
              </a:rPr>
              <a:t>“The work that used to eat a whole sprint now gets done before standup. We just ask MeshMesh.”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4892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120">
                <a:solidFill>
                  <a:srgbClr val="A1A1A1"/>
                </a:solidFill>
                <a:latin typeface="Geist Mono"/>
              </a:rPr>
              <a:t>— SALESFORCE ENTERPRISE 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220">
                <a:solidFill>
                  <a:srgbClr val="FA6863"/>
                </a:solidFill>
                <a:latin typeface="Geist Mono"/>
              </a:rPr>
              <a:t>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3137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0" spc="-40">
                <a:solidFill>
                  <a:srgbClr val="FFFFFF"/>
                </a:solidFill>
                <a:latin typeface="Geist"/>
              </a:rPr>
              <a:t>Make the complex Salesforce simple — just ask.</a:t>
            </a:r>
            <a:r>
              <a:rPr sz="3400" b="0">
                <a:solidFill>
                  <a:srgbClr val="FA6863"/>
                </a:solidFill>
                <a:latin typeface="Geist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shMesh Cover3 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3311"/>
            <a:ext cx="12191695" cy="812462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hmesh-salesforce-wordmark-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77240"/>
            <a:ext cx="1920240" cy="550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651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spc="220">
                <a:solidFill>
                  <a:srgbClr val="FA6863"/>
                </a:solidFill>
                <a:latin typeface="Geist Mono"/>
              </a:rPr>
              <a:t>READY WHEN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0" spc="-50">
                <a:solidFill>
                  <a:srgbClr val="FFFFFF"/>
                </a:solidFill>
                <a:latin typeface="Geist"/>
              </a:rPr>
              <a:t>Ready to make the complex simple?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2767" y="4800600"/>
            <a:ext cx="3566160" cy="658368"/>
          </a:xfrm>
          <a:prstGeom prst="roundRect">
            <a:avLst>
              <a:gd name="adj" fmla="val 50000"/>
            </a:avLst>
          </a:prstGeom>
          <a:solidFill>
            <a:srgbClr val="FA6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A0A0A"/>
                </a:solidFill>
                <a:latin typeface="Geist"/>
              </a:rPr>
              <a:t>Nominate a customer hero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